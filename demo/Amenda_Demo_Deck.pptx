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63" r:id="rId15"/>
    <p:sldId id="264" r:id="rId16"/>
    <p:sldId id="265" r:id="rId17"/>
    <p:sldId id="258" r:id="rId8"/>
    <p:sldId id="259" r:id="rId9"/>
    <p:sldId id="260" r:id="rId10"/>
    <p:sldId id="266" r:id="rId18"/>
    <p:sldId id="261" r:id="rId11"/>
    <p:sldId id="262" r:id="rId12"/>
    <p:sldId id="267" r:id="rId19"/>
    <p:sldId id="268" r:id="rId20"/>
  </p:sldIdLst>
  <p:sldSz cx="18288000" cy="10287000"/>
  <p:notesSz cx="6858000" cy="9144000"/>
  <p:embeddedFontLst>
    <p:embeddedFont>
      <p:font typeface="Canva Sans Bold" charset="1" panose="020B0803030501040103"/>
      <p:regular r:id="rId13"/>
    </p:embeddedFont>
    <p:embeddedFont>
      <p:font typeface="Canva Sans" charset="1" panose="020B0503030501040103"/>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font" Target="fonts/font13.fntdata"/><Relationship Id="rId14" Type="http://schemas.openxmlformats.org/officeDocument/2006/relationships/font" Target="fonts/font14.fntdata"/><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18014" y="2757368"/>
            <a:ext cx="3209544" cy="4114800"/>
          </a:xfrm>
          <a:custGeom>
            <a:avLst/>
            <a:gdLst/>
            <a:ahLst/>
            <a:cxnLst/>
            <a:rect r="r" b="b" t="t" l="l"/>
            <a:pathLst>
              <a:path h="4114800" w="3209544">
                <a:moveTo>
                  <a:pt x="0" y="0"/>
                </a:moveTo>
                <a:lnTo>
                  <a:pt x="3209544" y="0"/>
                </a:lnTo>
                <a:lnTo>
                  <a:pt x="320954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239429" y="962025"/>
            <a:ext cx="11235501" cy="8381365"/>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Canva Sans Bold"/>
                <a:ea typeface="Canva Sans Bold"/>
                <a:cs typeface="Canva Sans Bold"/>
                <a:sym typeface="Canva Sans Bold"/>
              </a:rPr>
              <a:t>Chen Wei is the f</a:t>
            </a:r>
            <a:r>
              <a:rPr lang="en-US" b="true" sz="3399">
                <a:solidFill>
                  <a:srgbClr val="000000"/>
                </a:solidFill>
                <a:latin typeface="Canva Sans Bold"/>
                <a:ea typeface="Canva Sans Bold"/>
                <a:cs typeface="Canva Sans Bold"/>
                <a:sym typeface="Canva Sans Bold"/>
              </a:rPr>
              <a:t>ounder of a lean 30-person tech startup, PivotStack Pte Ltd. His law firm drafted a suite of employment contracts 18 months ago. Because the startup moves fast and Chen wants to manage headcount tightly, the law firm included two clauses on his instruction:</a:t>
            </a:r>
          </a:p>
          <a:p>
            <a:pPr algn="ctr" marL="734059" indent="-367030" lvl="1">
              <a:lnSpc>
                <a:spcPts val="4759"/>
              </a:lnSpc>
              <a:spcBef>
                <a:spcPct val="0"/>
              </a:spcBef>
              <a:buFont typeface="Arial"/>
              <a:buChar char="•"/>
            </a:pPr>
            <a:r>
              <a:rPr lang="en-US" b="true" sz="3399">
                <a:solidFill>
                  <a:srgbClr val="000000"/>
                </a:solidFill>
                <a:latin typeface="Canva Sans Bold"/>
                <a:ea typeface="Canva Sans Bold"/>
                <a:cs typeface="Canva Sans Bold"/>
                <a:sym typeface="Canva Sans Bold"/>
              </a:rPr>
              <a:t>A "maximum engagement age" clause — specifying that employment automatically terminates upon the employee reaching age 62, without further notice.</a:t>
            </a:r>
          </a:p>
          <a:p>
            <a:pPr algn="ctr" marL="734059" indent="-367030" lvl="1">
              <a:lnSpc>
                <a:spcPts val="4759"/>
              </a:lnSpc>
              <a:spcBef>
                <a:spcPct val="0"/>
              </a:spcBef>
              <a:buFont typeface="Arial"/>
              <a:buChar char="•"/>
            </a:pPr>
            <a:r>
              <a:rPr lang="en-US" b="true" sz="3399">
                <a:solidFill>
                  <a:srgbClr val="000000"/>
                </a:solidFill>
                <a:latin typeface="Canva Sans Bold"/>
                <a:ea typeface="Canva Sans Bold"/>
                <a:cs typeface="Canva Sans Bold"/>
                <a:sym typeface="Canva Sans Bold"/>
              </a:rPr>
              <a:t>A "no-grievance" clause — stating that employees waive the right to raise internal disputes regarding termination decisions</a:t>
            </a:r>
          </a:p>
          <a:p>
            <a:pPr algn="ctr">
              <a:lnSpc>
                <a:spcPts val="4759"/>
              </a:lnSpc>
              <a:spcBef>
                <a:spcPct val="0"/>
              </a:spcBef>
            </a:pPr>
          </a:p>
        </p:txBody>
      </p:sp>
      <p:sp>
        <p:nvSpPr>
          <p:cNvPr name="TextBox 4" id="4"/>
          <p:cNvSpPr txBox="true"/>
          <p:nvPr/>
        </p:nvSpPr>
        <p:spPr>
          <a:xfrm rot="0">
            <a:off x="837349" y="448310"/>
            <a:ext cx="1670893" cy="580390"/>
          </a:xfrm>
          <a:prstGeom prst="rect">
            <a:avLst/>
          </a:prstGeom>
        </p:spPr>
        <p:txBody>
          <a:bodyPr anchor="t" rtlCol="false" tIns="0" lIns="0" bIns="0" rIns="0">
            <a:spAutoFit/>
          </a:bodyPr>
          <a:lstStyle/>
          <a:p>
            <a:pPr algn="ctr">
              <a:lnSpc>
                <a:spcPts val="4759"/>
              </a:lnSpc>
              <a:spcBef>
                <a:spcPct val="0"/>
              </a:spcBef>
            </a:pPr>
            <a:r>
              <a:rPr lang="en-US" sz="3399">
                <a:solidFill>
                  <a:srgbClr val="004AAD">
                    <a:alpha val="55686"/>
                  </a:srgbClr>
                </a:solidFill>
                <a:latin typeface="Canva Sans"/>
                <a:ea typeface="Canva Sans"/>
                <a:cs typeface="Canva Sans"/>
                <a:sym typeface="Canva Sans"/>
              </a:rPr>
              <a:t>amenda</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457914" y="3619342"/>
            <a:ext cx="12066247" cy="1180465"/>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Canva Sans"/>
                <a:ea typeface="Canva Sans"/>
                <a:cs typeface="Canva Sans"/>
                <a:sym typeface="Canva Sans"/>
              </a:rPr>
              <a:t>These c</a:t>
            </a:r>
            <a:r>
              <a:rPr lang="en-US" sz="3399">
                <a:solidFill>
                  <a:srgbClr val="000000"/>
                </a:solidFill>
                <a:latin typeface="Canva Sans"/>
                <a:ea typeface="Canva Sans"/>
                <a:cs typeface="Canva Sans"/>
                <a:sym typeface="Canva Sans"/>
              </a:rPr>
              <a:t>ontracts are sitting in the law firm's file, ready to be sent out to three new hires next week.</a:t>
            </a:r>
          </a:p>
        </p:txBody>
      </p:sp>
      <p:sp>
        <p:nvSpPr>
          <p:cNvPr name="TextBox 3" id="3"/>
          <p:cNvSpPr txBox="true"/>
          <p:nvPr/>
        </p:nvSpPr>
        <p:spPr>
          <a:xfrm rot="0">
            <a:off x="837349" y="448310"/>
            <a:ext cx="1670893" cy="580390"/>
          </a:xfrm>
          <a:prstGeom prst="rect">
            <a:avLst/>
          </a:prstGeom>
        </p:spPr>
        <p:txBody>
          <a:bodyPr anchor="t" rtlCol="false" tIns="0" lIns="0" bIns="0" rIns="0">
            <a:spAutoFit/>
          </a:bodyPr>
          <a:lstStyle/>
          <a:p>
            <a:pPr algn="ctr">
              <a:lnSpc>
                <a:spcPts val="4759"/>
              </a:lnSpc>
              <a:spcBef>
                <a:spcPct val="0"/>
              </a:spcBef>
            </a:pPr>
            <a:r>
              <a:rPr lang="en-US" sz="3399">
                <a:solidFill>
                  <a:srgbClr val="004AAD">
                    <a:alpha val="55686"/>
                  </a:srgbClr>
                </a:solidFill>
                <a:latin typeface="Canva Sans"/>
                <a:ea typeface="Canva Sans"/>
                <a:cs typeface="Canva Sans"/>
                <a:sym typeface="Canva Sans"/>
              </a:rPr>
              <a:t>amenda</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26140" y="1709981"/>
            <a:ext cx="16661860" cy="17805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Canva Sans"/>
                <a:ea typeface="Canva Sans"/>
                <a:cs typeface="Canva Sans"/>
                <a:sym typeface="Canva Sans"/>
              </a:rPr>
              <a:t>CLAUSE 8.3 — Before (Old Draft)</a:t>
            </a:r>
          </a:p>
          <a:p>
            <a:pPr algn="ctr">
              <a:lnSpc>
                <a:spcPts val="4759"/>
              </a:lnSpc>
              <a:spcBef>
                <a:spcPct val="0"/>
              </a:spcBef>
            </a:pPr>
            <a:r>
              <a:rPr lang="en-US" sz="3399">
                <a:solidFill>
                  <a:srgbClr val="000000"/>
                </a:solidFill>
                <a:latin typeface="Canva Sans"/>
                <a:ea typeface="Canva Sans"/>
                <a:cs typeface="Canva Sans"/>
                <a:sym typeface="Canva Sans"/>
              </a:rPr>
              <a:t>"This Agreement shall automatically terminate without notice upon the Employee attaining the age of sixty-two (62) years”</a:t>
            </a:r>
          </a:p>
        </p:txBody>
      </p:sp>
      <p:sp>
        <p:nvSpPr>
          <p:cNvPr name="TextBox 3" id="3"/>
          <p:cNvSpPr txBox="true"/>
          <p:nvPr/>
        </p:nvSpPr>
        <p:spPr>
          <a:xfrm rot="0">
            <a:off x="1364533" y="4909679"/>
            <a:ext cx="16230600" cy="2380615"/>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Canva Sans"/>
                <a:ea typeface="Canva Sans"/>
                <a:cs typeface="Canva Sans"/>
                <a:sym typeface="Canva Sans"/>
              </a:rPr>
              <a:t>CLAUSE 14.1 — Before (Old Draft)</a:t>
            </a:r>
          </a:p>
          <a:p>
            <a:pPr algn="ctr">
              <a:lnSpc>
                <a:spcPts val="4759"/>
              </a:lnSpc>
              <a:spcBef>
                <a:spcPct val="0"/>
              </a:spcBef>
            </a:pPr>
            <a:r>
              <a:rPr lang="en-US" sz="3399">
                <a:solidFill>
                  <a:srgbClr val="000000"/>
                </a:solidFill>
                <a:latin typeface="Canva Sans"/>
                <a:ea typeface="Canva Sans"/>
                <a:cs typeface="Canva Sans"/>
                <a:sym typeface="Canva Sans"/>
              </a:rPr>
              <a:t>"The Employee hereby waives any right to raise internal disputes or grievances in connection with any decision made by the Employer regarding the Employee's terms of employment or termination thereof."</a:t>
            </a:r>
          </a:p>
        </p:txBody>
      </p:sp>
      <p:sp>
        <p:nvSpPr>
          <p:cNvPr name="TextBox 4" id="4"/>
          <p:cNvSpPr txBox="true"/>
          <p:nvPr/>
        </p:nvSpPr>
        <p:spPr>
          <a:xfrm rot="0">
            <a:off x="837349" y="448310"/>
            <a:ext cx="1670893" cy="580390"/>
          </a:xfrm>
          <a:prstGeom prst="rect">
            <a:avLst/>
          </a:prstGeom>
        </p:spPr>
        <p:txBody>
          <a:bodyPr anchor="t" rtlCol="false" tIns="0" lIns="0" bIns="0" rIns="0">
            <a:spAutoFit/>
          </a:bodyPr>
          <a:lstStyle/>
          <a:p>
            <a:pPr algn="ctr">
              <a:lnSpc>
                <a:spcPts val="4759"/>
              </a:lnSpc>
              <a:spcBef>
                <a:spcPct val="0"/>
              </a:spcBef>
            </a:pPr>
            <a:r>
              <a:rPr lang="en-US" sz="3399">
                <a:solidFill>
                  <a:srgbClr val="004AAD">
                    <a:alpha val="55686"/>
                  </a:srgbClr>
                </a:solidFill>
                <a:latin typeface="Canva Sans"/>
                <a:ea typeface="Canva Sans"/>
                <a:cs typeface="Canva Sans"/>
                <a:sym typeface="Canva Sans"/>
              </a:rPr>
              <a:t>amenda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053333" y="5108052"/>
            <a:ext cx="11827826" cy="3062454"/>
          </a:xfrm>
          <a:custGeom>
            <a:avLst/>
            <a:gdLst/>
            <a:ahLst/>
            <a:cxnLst/>
            <a:rect r="r" b="b" t="t" l="l"/>
            <a:pathLst>
              <a:path h="3062454" w="11827826">
                <a:moveTo>
                  <a:pt x="0" y="0"/>
                </a:moveTo>
                <a:lnTo>
                  <a:pt x="11827826" y="0"/>
                </a:lnTo>
                <a:lnTo>
                  <a:pt x="11827826" y="3062454"/>
                </a:lnTo>
                <a:lnTo>
                  <a:pt x="0" y="3062454"/>
                </a:lnTo>
                <a:lnTo>
                  <a:pt x="0" y="0"/>
                </a:lnTo>
                <a:close/>
              </a:path>
            </a:pathLst>
          </a:custGeom>
          <a:blipFill>
            <a:blip r:embed="rId2"/>
            <a:stretch>
              <a:fillRect l="0" t="0" r="0" b="0"/>
            </a:stretch>
          </a:blipFill>
        </p:spPr>
      </p:sp>
      <p:sp>
        <p:nvSpPr>
          <p:cNvPr name="Freeform 3" id="3"/>
          <p:cNvSpPr/>
          <p:nvPr/>
        </p:nvSpPr>
        <p:spPr>
          <a:xfrm flipH="false" flipV="false" rot="0">
            <a:off x="3227249" y="1714563"/>
            <a:ext cx="11798152" cy="3393489"/>
          </a:xfrm>
          <a:custGeom>
            <a:avLst/>
            <a:gdLst/>
            <a:ahLst/>
            <a:cxnLst/>
            <a:rect r="r" b="b" t="t" l="l"/>
            <a:pathLst>
              <a:path h="3393489" w="11798152">
                <a:moveTo>
                  <a:pt x="0" y="0"/>
                </a:moveTo>
                <a:lnTo>
                  <a:pt x="11798152" y="0"/>
                </a:lnTo>
                <a:lnTo>
                  <a:pt x="11798152" y="3393489"/>
                </a:lnTo>
                <a:lnTo>
                  <a:pt x="0" y="3393489"/>
                </a:lnTo>
                <a:lnTo>
                  <a:pt x="0" y="0"/>
                </a:lnTo>
                <a:close/>
              </a:path>
            </a:pathLst>
          </a:custGeom>
          <a:blipFill>
            <a:blip r:embed="rId3"/>
            <a:stretch>
              <a:fillRect l="0" t="0" r="0" b="0"/>
            </a:stretch>
          </a:blipFill>
        </p:spPr>
      </p:sp>
      <p:sp>
        <p:nvSpPr>
          <p:cNvPr name="TextBox 4" id="4"/>
          <p:cNvSpPr txBox="true"/>
          <p:nvPr/>
        </p:nvSpPr>
        <p:spPr>
          <a:xfrm rot="0">
            <a:off x="837349" y="448310"/>
            <a:ext cx="1670893" cy="580390"/>
          </a:xfrm>
          <a:prstGeom prst="rect">
            <a:avLst/>
          </a:prstGeom>
        </p:spPr>
        <p:txBody>
          <a:bodyPr anchor="t" rtlCol="false" tIns="0" lIns="0" bIns="0" rIns="0">
            <a:spAutoFit/>
          </a:bodyPr>
          <a:lstStyle/>
          <a:p>
            <a:pPr algn="ctr">
              <a:lnSpc>
                <a:spcPts val="4759"/>
              </a:lnSpc>
              <a:spcBef>
                <a:spcPct val="0"/>
              </a:spcBef>
            </a:pPr>
            <a:r>
              <a:rPr lang="en-US" sz="3399">
                <a:solidFill>
                  <a:srgbClr val="004AAD">
                    <a:alpha val="55686"/>
                  </a:srgbClr>
                </a:solidFill>
                <a:latin typeface="Canva Sans"/>
                <a:ea typeface="Canva Sans"/>
                <a:cs typeface="Canva Sans"/>
                <a:sym typeface="Canva Sans"/>
              </a:rPr>
              <a:t>amenda</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16595" y="3106340"/>
            <a:ext cx="16230600" cy="17805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Canva Sans"/>
                <a:ea typeface="Canva Sans"/>
                <a:cs typeface="Canva Sans"/>
                <a:sym typeface="Canva Sans"/>
              </a:rPr>
              <a:t>HIGH RISK — Clause 8.3 (Automatic Termination at Age 62)</a:t>
            </a:r>
          </a:p>
          <a:p>
            <a:pPr algn="ctr">
              <a:lnSpc>
                <a:spcPts val="4759"/>
              </a:lnSpc>
              <a:spcBef>
                <a:spcPct val="0"/>
              </a:spcBef>
            </a:pPr>
            <a:r>
              <a:rPr lang="en-US" sz="3399">
                <a:solidFill>
                  <a:srgbClr val="000000"/>
                </a:solidFill>
                <a:latin typeface="Canva Sans"/>
                <a:ea typeface="Canva Sans"/>
                <a:cs typeface="Canva Sans"/>
                <a:sym typeface="Canva Sans"/>
              </a:rPr>
              <a:t>Direct conflict with s.7 WFA — age is a protected characteristic. Mandatory termination tied solely to age constitutes a discriminatory employment decisi</a:t>
            </a:r>
          </a:p>
        </p:txBody>
      </p:sp>
      <p:sp>
        <p:nvSpPr>
          <p:cNvPr name="TextBox 3" id="3"/>
          <p:cNvSpPr txBox="true"/>
          <p:nvPr/>
        </p:nvSpPr>
        <p:spPr>
          <a:xfrm rot="0">
            <a:off x="0" y="5686954"/>
            <a:ext cx="17863790" cy="17805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Canva Sans"/>
                <a:ea typeface="Canva Sans"/>
                <a:cs typeface="Canva Sans"/>
                <a:sym typeface="Canva Sans"/>
              </a:rPr>
              <a:t>HIGH RISK — Clause 14.1 (Waiver of Grievance Rights)</a:t>
            </a:r>
          </a:p>
          <a:p>
            <a:pPr algn="ctr">
              <a:lnSpc>
                <a:spcPts val="4759"/>
              </a:lnSpc>
              <a:spcBef>
                <a:spcPct val="0"/>
              </a:spcBef>
            </a:pPr>
            <a:r>
              <a:rPr lang="en-US" sz="3399">
                <a:solidFill>
                  <a:srgbClr val="000000"/>
                </a:solidFill>
                <a:latin typeface="Canva Sans"/>
                <a:ea typeface="Canva Sans"/>
                <a:cs typeface="Canva Sans"/>
                <a:sym typeface="Canva Sans"/>
              </a:rPr>
              <a:t>Directly voided by Clause 41 WFA. Any term preventing an employee from raising a grievance under the Act is rendered void by operation of law.</a:t>
            </a:r>
          </a:p>
        </p:txBody>
      </p:sp>
      <p:sp>
        <p:nvSpPr>
          <p:cNvPr name="TextBox 4" id="4"/>
          <p:cNvSpPr txBox="true"/>
          <p:nvPr/>
        </p:nvSpPr>
        <p:spPr>
          <a:xfrm rot="0">
            <a:off x="837349" y="448310"/>
            <a:ext cx="1670893" cy="580390"/>
          </a:xfrm>
          <a:prstGeom prst="rect">
            <a:avLst/>
          </a:prstGeom>
        </p:spPr>
        <p:txBody>
          <a:bodyPr anchor="t" rtlCol="false" tIns="0" lIns="0" bIns="0" rIns="0">
            <a:spAutoFit/>
          </a:bodyPr>
          <a:lstStyle/>
          <a:p>
            <a:pPr algn="ctr">
              <a:lnSpc>
                <a:spcPts val="4759"/>
              </a:lnSpc>
              <a:spcBef>
                <a:spcPct val="0"/>
              </a:spcBef>
            </a:pPr>
            <a:r>
              <a:rPr lang="en-US" sz="3399">
                <a:solidFill>
                  <a:srgbClr val="004AAD">
                    <a:alpha val="55686"/>
                  </a:srgbClr>
                </a:solidFill>
                <a:latin typeface="Canva Sans"/>
                <a:ea typeface="Canva Sans"/>
                <a:cs typeface="Canva Sans"/>
                <a:sym typeface="Canva Sans"/>
              </a:rPr>
              <a:t>amenda</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719705"/>
            <a:ext cx="16230600" cy="4780915"/>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Canva Sans"/>
                <a:ea typeface="Canva Sans"/>
                <a:cs typeface="Canva Sans"/>
                <a:sym typeface="Canva Sans"/>
              </a:rPr>
              <a:t>CLAUSE 8.3 — Amenda's Suggested Replacement ✅</a:t>
            </a:r>
          </a:p>
          <a:p>
            <a:pPr algn="ctr">
              <a:lnSpc>
                <a:spcPts val="4759"/>
              </a:lnSpc>
              <a:spcBef>
                <a:spcPct val="0"/>
              </a:spcBef>
            </a:pPr>
            <a:r>
              <a:rPr lang="en-US" sz="3399">
                <a:solidFill>
                  <a:srgbClr val="000000"/>
                </a:solidFill>
                <a:latin typeface="Canva Sans"/>
                <a:ea typeface="Canva Sans"/>
                <a:cs typeface="Canva Sans"/>
                <a:sym typeface="Canva Sans"/>
              </a:rPr>
              <a:t>"The Employer may review the Employee's continued engagement upon the Employee attaining the statutory retirement age as prescribed under the Retirement and Re-employment Act (Cap. 274A), and any decision regarding the continuation, variation or termination of employment shall be made on the basis of the Employee's performance, operational requirements of the Company, and other non-discriminatory grounds, in compliance with the Workplace Fairness Act 2024</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56501" y="2892392"/>
            <a:ext cx="15854199" cy="418084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Canva Sans"/>
                <a:ea typeface="Canva Sans"/>
                <a:cs typeface="Canva Sans"/>
                <a:sym typeface="Canva Sans"/>
              </a:rPr>
              <a:t>C</a:t>
            </a:r>
            <a:r>
              <a:rPr lang="en-US" sz="3399">
                <a:solidFill>
                  <a:srgbClr val="000000"/>
                </a:solidFill>
                <a:latin typeface="Canva Sans"/>
                <a:ea typeface="Canva Sans"/>
                <a:cs typeface="Canva Sans"/>
                <a:sym typeface="Canva Sans"/>
              </a:rPr>
              <a:t>LAUSE 14.1 — Amenda's Suggested Replacement ✅</a:t>
            </a:r>
          </a:p>
          <a:p>
            <a:pPr algn="ctr">
              <a:lnSpc>
                <a:spcPts val="4759"/>
              </a:lnSpc>
              <a:spcBef>
                <a:spcPct val="0"/>
              </a:spcBef>
            </a:pPr>
            <a:r>
              <a:rPr lang="en-US" sz="3399">
                <a:solidFill>
                  <a:srgbClr val="000000"/>
                </a:solidFill>
                <a:latin typeface="Canva Sans"/>
                <a:ea typeface="Canva Sans"/>
                <a:cs typeface="Canva Sans"/>
                <a:sym typeface="Canva Sans"/>
              </a:rPr>
              <a:t>"The Employer shall maintain an internal grievance handling process in accordance with the Workplace Fairness Act 2024. Employees are encouraged to utilise this process to raise concerns regarding their terms of employment. Nothing in this Agreement shall be construed to limit any rights conferred upon the Employee under applicable legislation, including the Workplace Fairness Act 2024."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448056"/>
            <a:ext cx="1673352" cy="576072"/>
          </a:xfrm>
          <a:prstGeom prst="rect">
            <a:avLst/>
          </a:prstGeom>
          <a:noFill/>
        </p:spPr>
        <p:txBody>
          <a:bodyPr wrap="none">
            <a:spAutoFit/>
          </a:bodyPr>
          <a:lstStyle/>
          <a:p>
            <a:r>
              <a:rPr sz="3400">
                <a:solidFill>
                  <a:srgbClr val="004AAD"/>
                </a:solidFill>
                <a:latin typeface="Canva Sans"/>
              </a:rPr>
              <a:t>amenda</a:t>
            </a:r>
          </a:p>
        </p:txBody>
      </p:sp>
      <p:sp>
        <p:nvSpPr>
          <p:cNvPr id="3" name="TextBox 2"/>
          <p:cNvSpPr txBox="1"/>
          <p:nvPr/>
        </p:nvSpPr>
        <p:spPr>
          <a:xfrm>
            <a:off x="841248" y="1298448"/>
            <a:ext cx="10972800" cy="384048"/>
          </a:xfrm>
          <a:prstGeom prst="rect">
            <a:avLst/>
          </a:prstGeom>
          <a:noFill/>
        </p:spPr>
        <p:txBody>
          <a:bodyPr wrap="none">
            <a:spAutoFit/>
          </a:bodyPr>
          <a:lstStyle/>
          <a:p>
            <a:pPr>
              <a:spcAft>
                <a:spcPts val="0"/>
              </a:spcAft>
            </a:pPr>
            <a:r>
              <a:rPr sz="1500" b="1">
                <a:solidFill>
                  <a:srgbClr val="B68235"/>
                </a:solidFill>
                <a:latin typeface="Canva Sans"/>
              </a:rPr>
              <a:t>THE FIRM'S FILE</a:t>
            </a:r>
          </a:p>
        </p:txBody>
      </p:sp>
      <p:sp>
        <p:nvSpPr>
          <p:cNvPr id="4" name="TextBox 3"/>
          <p:cNvSpPr txBox="1"/>
          <p:nvPr/>
        </p:nvSpPr>
        <p:spPr>
          <a:xfrm>
            <a:off x="841248" y="1719072"/>
            <a:ext cx="16605504" cy="786384"/>
          </a:xfrm>
          <a:prstGeom prst="rect">
            <a:avLst/>
          </a:prstGeom>
          <a:noFill/>
        </p:spPr>
        <p:txBody>
          <a:bodyPr wrap="square">
            <a:spAutoFit/>
          </a:bodyPr>
          <a:lstStyle/>
          <a:p>
            <a:r>
              <a:rPr sz="3100" b="1">
                <a:solidFill>
                  <a:srgbClr val="1A1A1A"/>
                </a:solidFill>
                <a:latin typeface="Canva Sans"/>
              </a:rPr>
              <a:t>Seven clients. Twenty-one documents. One statute book.</a:t>
            </a:r>
          </a:p>
        </p:txBody>
      </p:sp>
      <p:pic>
        <p:nvPicPr>
          <p:cNvPr id="5" name="Picture 4" descr="slide_1_dashboard.png"/>
          <p:cNvPicPr>
            <a:picLocks noChangeAspect="1"/>
          </p:cNvPicPr>
          <p:nvPr/>
        </p:nvPicPr>
        <p:blipFill>
          <a:blip r:embed="rId2"/>
          <a:stretch>
            <a:fillRect/>
          </a:stretch>
        </p:blipFill>
        <p:spPr>
          <a:xfrm>
            <a:off x="3721040" y="2578608"/>
            <a:ext cx="10845919" cy="6199632"/>
          </a:xfrm>
          <a:prstGeom prst="rect">
            <a:avLst/>
          </a:prstGeom>
          <a:ln w="12700">
            <a:solidFill>
              <a:srgbClr val="D8D8D8"/>
            </a:solidFill>
          </a:ln>
        </p:spPr>
      </p:pic>
      <p:sp>
        <p:nvSpPr>
          <p:cNvPr id="6" name="TextBox 5"/>
          <p:cNvSpPr txBox="1"/>
          <p:nvPr/>
        </p:nvSpPr>
        <p:spPr>
          <a:xfrm>
            <a:off x="1188720" y="8887968"/>
            <a:ext cx="15910559" cy="914400"/>
          </a:xfrm>
          <a:prstGeom prst="rect">
            <a:avLst/>
          </a:prstGeom>
          <a:noFill/>
        </p:spPr>
        <p:txBody>
          <a:bodyPr wrap="square">
            <a:spAutoFit/>
          </a:bodyPr>
          <a:lstStyle/>
          <a:p>
            <a:pPr algn="ctr"/>
            <a:r>
              <a:rPr sz="1600">
                <a:solidFill>
                  <a:srgbClr val="6B7280"/>
                </a:solidFill>
                <a:latin typeface="Canva Sans"/>
              </a:rPr>
              <a:t>Amenda sits inside the firm's existing workflow. The right panel tracks bills live from parliament.gov.sg.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448056"/>
            <a:ext cx="1673352" cy="576072"/>
          </a:xfrm>
          <a:prstGeom prst="rect">
            <a:avLst/>
          </a:prstGeom>
          <a:noFill/>
        </p:spPr>
        <p:txBody>
          <a:bodyPr wrap="none">
            <a:spAutoFit/>
          </a:bodyPr>
          <a:lstStyle/>
          <a:p>
            <a:r>
              <a:rPr sz="3400">
                <a:solidFill>
                  <a:srgbClr val="004AAD"/>
                </a:solidFill>
                <a:latin typeface="Canva Sans"/>
              </a:rPr>
              <a:t>amenda</a:t>
            </a:r>
          </a:p>
        </p:txBody>
      </p:sp>
      <p:sp>
        <p:nvSpPr>
          <p:cNvPr id="3" name="TextBox 2"/>
          <p:cNvSpPr txBox="1"/>
          <p:nvPr/>
        </p:nvSpPr>
        <p:spPr>
          <a:xfrm>
            <a:off x="841248" y="1298448"/>
            <a:ext cx="10972800" cy="384048"/>
          </a:xfrm>
          <a:prstGeom prst="rect">
            <a:avLst/>
          </a:prstGeom>
          <a:noFill/>
        </p:spPr>
        <p:txBody>
          <a:bodyPr wrap="none">
            <a:spAutoFit/>
          </a:bodyPr>
          <a:lstStyle/>
          <a:p>
            <a:pPr>
              <a:spcAft>
                <a:spcPts val="0"/>
              </a:spcAft>
            </a:pPr>
            <a:r>
              <a:rPr sz="1500" b="1">
                <a:solidFill>
                  <a:srgbClr val="B68235"/>
                </a:solidFill>
                <a:latin typeface="Canva Sans"/>
              </a:rPr>
              <a:t>FEATURE 1 — THE THREE STAGES</a:t>
            </a:r>
          </a:p>
        </p:txBody>
      </p:sp>
      <p:sp>
        <p:nvSpPr>
          <p:cNvPr id="4" name="TextBox 3"/>
          <p:cNvSpPr txBox="1"/>
          <p:nvPr/>
        </p:nvSpPr>
        <p:spPr>
          <a:xfrm>
            <a:off x="841248" y="1719072"/>
            <a:ext cx="16605504" cy="786384"/>
          </a:xfrm>
          <a:prstGeom prst="rect">
            <a:avLst/>
          </a:prstGeom>
          <a:noFill/>
        </p:spPr>
        <p:txBody>
          <a:bodyPr wrap="square">
            <a:spAutoFit/>
          </a:bodyPr>
          <a:lstStyle/>
          <a:p>
            <a:r>
              <a:rPr sz="3100" b="1">
                <a:solidFill>
                  <a:srgbClr val="1A1A1A"/>
                </a:solidFill>
                <a:latin typeface="Canva Sans"/>
              </a:rPr>
              <a:t>First reading, second reading, commencement</a:t>
            </a:r>
          </a:p>
        </p:txBody>
      </p:sp>
      <p:pic>
        <p:nvPicPr>
          <p:cNvPr id="5" name="Picture 4" descr="crop_slide_3_watchlist.png"/>
          <p:cNvPicPr>
            <a:picLocks noChangeAspect="1"/>
          </p:cNvPicPr>
          <p:nvPr/>
        </p:nvPicPr>
        <p:blipFill>
          <a:blip r:embed="rId2"/>
          <a:stretch>
            <a:fillRect/>
          </a:stretch>
        </p:blipFill>
        <p:spPr>
          <a:xfrm>
            <a:off x="4371152" y="2578608"/>
            <a:ext cx="9545695" cy="6199632"/>
          </a:xfrm>
          <a:prstGeom prst="rect">
            <a:avLst/>
          </a:prstGeom>
          <a:ln w="12700">
            <a:solidFill>
              <a:srgbClr val="D8D8D8"/>
            </a:solidFill>
          </a:ln>
        </p:spPr>
      </p:pic>
      <p:sp>
        <p:nvSpPr>
          <p:cNvPr id="6" name="TextBox 5"/>
          <p:cNvSpPr txBox="1"/>
          <p:nvPr/>
        </p:nvSpPr>
        <p:spPr>
          <a:xfrm>
            <a:off x="1188720" y="8887968"/>
            <a:ext cx="15910559" cy="914400"/>
          </a:xfrm>
          <a:prstGeom prst="rect">
            <a:avLst/>
          </a:prstGeom>
          <a:noFill/>
        </p:spPr>
        <p:txBody>
          <a:bodyPr wrap="square">
            <a:spAutoFit/>
          </a:bodyPr>
          <a:lstStyle/>
          <a:p>
            <a:pPr algn="ctr"/>
            <a:r>
              <a:rPr sz="1600">
                <a:solidFill>
                  <a:srgbClr val="6B7280"/>
                </a:solidFill>
                <a:latin typeface="Canva Sans"/>
              </a:rPr>
              <a:t>Scraped live from Parliament, each bill's PDF parsed for its commencement clause. Where the Minister has given no date, Amenda says so rather than guessing.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448056"/>
            <a:ext cx="1673352" cy="576072"/>
          </a:xfrm>
          <a:prstGeom prst="rect">
            <a:avLst/>
          </a:prstGeom>
          <a:noFill/>
        </p:spPr>
        <p:txBody>
          <a:bodyPr wrap="none">
            <a:spAutoFit/>
          </a:bodyPr>
          <a:lstStyle/>
          <a:p>
            <a:r>
              <a:rPr sz="3400">
                <a:solidFill>
                  <a:srgbClr val="004AAD"/>
                </a:solidFill>
                <a:latin typeface="Canva Sans"/>
              </a:rPr>
              <a:t>amenda</a:t>
            </a:r>
          </a:p>
        </p:txBody>
      </p:sp>
      <p:sp>
        <p:nvSpPr>
          <p:cNvPr id="3" name="TextBox 2"/>
          <p:cNvSpPr txBox="1"/>
          <p:nvPr/>
        </p:nvSpPr>
        <p:spPr>
          <a:xfrm>
            <a:off x="841248" y="1298448"/>
            <a:ext cx="10972800" cy="384048"/>
          </a:xfrm>
          <a:prstGeom prst="rect">
            <a:avLst/>
          </a:prstGeom>
          <a:noFill/>
        </p:spPr>
        <p:txBody>
          <a:bodyPr wrap="none">
            <a:spAutoFit/>
          </a:bodyPr>
          <a:lstStyle/>
          <a:p>
            <a:pPr>
              <a:spcAft>
                <a:spcPts val="0"/>
              </a:spcAft>
            </a:pPr>
            <a:r>
              <a:rPr sz="1500" b="1">
                <a:solidFill>
                  <a:srgbClr val="B68235"/>
                </a:solidFill>
                <a:latin typeface="Canva Sans"/>
              </a:rPr>
              <a:t>FEATURE 1 — READING THE BILL</a:t>
            </a:r>
          </a:p>
        </p:txBody>
      </p:sp>
      <p:sp>
        <p:nvSpPr>
          <p:cNvPr id="4" name="TextBox 3"/>
          <p:cNvSpPr txBox="1"/>
          <p:nvPr/>
        </p:nvSpPr>
        <p:spPr>
          <a:xfrm>
            <a:off x="841248" y="1719072"/>
            <a:ext cx="16605504" cy="786384"/>
          </a:xfrm>
          <a:prstGeom prst="rect">
            <a:avLst/>
          </a:prstGeom>
          <a:noFill/>
        </p:spPr>
        <p:txBody>
          <a:bodyPr wrap="square">
            <a:spAutoFit/>
          </a:bodyPr>
          <a:lstStyle/>
          <a:p>
            <a:r>
              <a:rPr sz="3100" b="1">
                <a:solidFill>
                  <a:srgbClr val="1A1A1A"/>
                </a:solidFill>
                <a:latin typeface="Canva Sans"/>
              </a:rPr>
              <a:t>The 200-page bill, reduced to what changed</a:t>
            </a:r>
          </a:p>
        </p:txBody>
      </p:sp>
      <p:pic>
        <p:nvPicPr>
          <p:cNvPr id="5" name="Picture 4" descr="crop_slide_2_beforeafter.png"/>
          <p:cNvPicPr>
            <a:picLocks noChangeAspect="1"/>
          </p:cNvPicPr>
          <p:nvPr/>
        </p:nvPicPr>
        <p:blipFill>
          <a:blip r:embed="rId2"/>
          <a:stretch>
            <a:fillRect/>
          </a:stretch>
        </p:blipFill>
        <p:spPr>
          <a:xfrm>
            <a:off x="4371152" y="2578608"/>
            <a:ext cx="9545695" cy="6199632"/>
          </a:xfrm>
          <a:prstGeom prst="rect">
            <a:avLst/>
          </a:prstGeom>
          <a:ln w="12700">
            <a:solidFill>
              <a:srgbClr val="D8D8D8"/>
            </a:solidFill>
          </a:ln>
        </p:spPr>
      </p:pic>
      <p:sp>
        <p:nvSpPr>
          <p:cNvPr id="6" name="TextBox 5"/>
          <p:cNvSpPr txBox="1"/>
          <p:nvPr/>
        </p:nvSpPr>
        <p:spPr>
          <a:xfrm>
            <a:off x="1188720" y="8887968"/>
            <a:ext cx="15910559" cy="914400"/>
          </a:xfrm>
          <a:prstGeom prst="rect">
            <a:avLst/>
          </a:prstGeom>
          <a:noFill/>
        </p:spPr>
        <p:txBody>
          <a:bodyPr wrap="square">
            <a:spAutoFit/>
          </a:bodyPr>
          <a:lstStyle/>
          <a:p>
            <a:pPr algn="ctr"/>
            <a:r>
              <a:rPr sz="1600">
                <a:solidFill>
                  <a:srgbClr val="6B7280"/>
                </a:solidFill>
                <a:latin typeface="Canva Sans"/>
              </a:rPr>
              <a:t>Purpose and main provisions are drawn only from the Explanatory Statement — definitions and consequential amendments excluded.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448056"/>
            <a:ext cx="1673352" cy="576072"/>
          </a:xfrm>
          <a:prstGeom prst="rect">
            <a:avLst/>
          </a:prstGeom>
          <a:noFill/>
        </p:spPr>
        <p:txBody>
          <a:bodyPr wrap="none">
            <a:spAutoFit/>
          </a:bodyPr>
          <a:lstStyle/>
          <a:p>
            <a:r>
              <a:rPr sz="3400">
                <a:solidFill>
                  <a:srgbClr val="004AAD"/>
                </a:solidFill>
                <a:latin typeface="Canva Sans"/>
              </a:rPr>
              <a:t>amenda</a:t>
            </a:r>
          </a:p>
        </p:txBody>
      </p:sp>
      <p:sp>
        <p:nvSpPr>
          <p:cNvPr id="3" name="TextBox 2"/>
          <p:cNvSpPr txBox="1"/>
          <p:nvPr/>
        </p:nvSpPr>
        <p:spPr>
          <a:xfrm>
            <a:off x="841248" y="1298448"/>
            <a:ext cx="10972800" cy="384048"/>
          </a:xfrm>
          <a:prstGeom prst="rect">
            <a:avLst/>
          </a:prstGeom>
          <a:noFill/>
        </p:spPr>
        <p:txBody>
          <a:bodyPr wrap="none">
            <a:spAutoFit/>
          </a:bodyPr>
          <a:lstStyle/>
          <a:p>
            <a:pPr>
              <a:spcAft>
                <a:spcPts val="0"/>
              </a:spcAft>
            </a:pPr>
            <a:r>
              <a:rPr sz="1500" b="1">
                <a:solidFill>
                  <a:srgbClr val="B68235"/>
                </a:solidFill>
                <a:latin typeface="Canva Sans"/>
              </a:rPr>
              <a:t>FEATURE 2 — THE SWEEP</a:t>
            </a:r>
          </a:p>
        </p:txBody>
      </p:sp>
      <p:sp>
        <p:nvSpPr>
          <p:cNvPr id="4" name="TextBox 3"/>
          <p:cNvSpPr txBox="1"/>
          <p:nvPr/>
        </p:nvSpPr>
        <p:spPr>
          <a:xfrm>
            <a:off x="841248" y="1719072"/>
            <a:ext cx="16605504" cy="786384"/>
          </a:xfrm>
          <a:prstGeom prst="rect">
            <a:avLst/>
          </a:prstGeom>
          <a:noFill/>
        </p:spPr>
        <p:txBody>
          <a:bodyPr wrap="square">
            <a:spAutoFit/>
          </a:bodyPr>
          <a:lstStyle/>
          <a:p>
            <a:r>
              <a:rPr sz="3100" b="1">
                <a:solidFill>
                  <a:srgbClr val="1A1A1A"/>
                </a:solidFill>
                <a:latin typeface="Canva Sans"/>
              </a:rPr>
              <a:t>Two exposures, found two different ways</a:t>
            </a:r>
          </a:p>
        </p:txBody>
      </p:sp>
      <p:pic>
        <p:nvPicPr>
          <p:cNvPr id="5" name="Picture 4" descr="crop_slide_5_sweep_results.png"/>
          <p:cNvPicPr>
            <a:picLocks noChangeAspect="1"/>
          </p:cNvPicPr>
          <p:nvPr/>
        </p:nvPicPr>
        <p:blipFill>
          <a:blip r:embed="rId2"/>
          <a:stretch>
            <a:fillRect/>
          </a:stretch>
        </p:blipFill>
        <p:spPr>
          <a:xfrm>
            <a:off x="5152933" y="2578608"/>
            <a:ext cx="7982134" cy="6199631"/>
          </a:xfrm>
          <a:prstGeom prst="rect">
            <a:avLst/>
          </a:prstGeom>
          <a:ln w="12700">
            <a:solidFill>
              <a:srgbClr val="D8D8D8"/>
            </a:solidFill>
          </a:ln>
        </p:spPr>
      </p:pic>
      <p:sp>
        <p:nvSpPr>
          <p:cNvPr id="6" name="TextBox 5"/>
          <p:cNvSpPr txBox="1"/>
          <p:nvPr/>
        </p:nvSpPr>
        <p:spPr>
          <a:xfrm>
            <a:off x="1188720" y="8887968"/>
            <a:ext cx="15910559" cy="914400"/>
          </a:xfrm>
          <a:prstGeom prst="rect">
            <a:avLst/>
          </a:prstGeom>
          <a:noFill/>
        </p:spPr>
        <p:txBody>
          <a:bodyPr wrap="square">
            <a:spAutoFit/>
          </a:bodyPr>
          <a:lstStyle/>
          <a:p>
            <a:pPr algn="ctr"/>
            <a:r>
              <a:rPr sz="1600">
                <a:solidFill>
                  <a:srgbClr val="6B7280"/>
                </a:solidFill>
                <a:latin typeface="Canva Sans"/>
              </a:rPr>
              <a:t>PivotStack is caught in the document — clause 8.3 quoted verbatim. Kallang Works is caught by profile: 40 staff, no grievance procedure, and no document mentioning 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448056"/>
            <a:ext cx="1673352" cy="576072"/>
          </a:xfrm>
          <a:prstGeom prst="rect">
            <a:avLst/>
          </a:prstGeom>
          <a:noFill/>
        </p:spPr>
        <p:txBody>
          <a:bodyPr wrap="none">
            <a:spAutoFit/>
          </a:bodyPr>
          <a:lstStyle/>
          <a:p>
            <a:r>
              <a:rPr sz="3400">
                <a:solidFill>
                  <a:srgbClr val="004AAD"/>
                </a:solidFill>
                <a:latin typeface="Canva Sans"/>
              </a:rPr>
              <a:t>amenda</a:t>
            </a:r>
          </a:p>
        </p:txBody>
      </p:sp>
      <p:sp>
        <p:nvSpPr>
          <p:cNvPr id="3" name="TextBox 2"/>
          <p:cNvSpPr txBox="1"/>
          <p:nvPr/>
        </p:nvSpPr>
        <p:spPr>
          <a:xfrm>
            <a:off x="841248" y="1298448"/>
            <a:ext cx="10972800" cy="384048"/>
          </a:xfrm>
          <a:prstGeom prst="rect">
            <a:avLst/>
          </a:prstGeom>
          <a:noFill/>
        </p:spPr>
        <p:txBody>
          <a:bodyPr wrap="none">
            <a:spAutoFit/>
          </a:bodyPr>
          <a:lstStyle/>
          <a:p>
            <a:pPr>
              <a:spcAft>
                <a:spcPts val="0"/>
              </a:spcAft>
            </a:pPr>
            <a:r>
              <a:rPr sz="1500" b="1">
                <a:solidFill>
                  <a:srgbClr val="B68235"/>
                </a:solidFill>
                <a:latin typeface="Canva Sans"/>
              </a:rPr>
              <a:t>FEATURE 2 — THE REDLINE</a:t>
            </a:r>
          </a:p>
        </p:txBody>
      </p:sp>
      <p:sp>
        <p:nvSpPr>
          <p:cNvPr id="4" name="TextBox 3"/>
          <p:cNvSpPr txBox="1"/>
          <p:nvPr/>
        </p:nvSpPr>
        <p:spPr>
          <a:xfrm>
            <a:off x="841248" y="1719072"/>
            <a:ext cx="16605504" cy="786384"/>
          </a:xfrm>
          <a:prstGeom prst="rect">
            <a:avLst/>
          </a:prstGeom>
          <a:noFill/>
        </p:spPr>
        <p:txBody>
          <a:bodyPr wrap="square">
            <a:spAutoFit/>
          </a:bodyPr>
          <a:lstStyle/>
          <a:p>
            <a:r>
              <a:rPr sz="3100" b="1">
                <a:solidFill>
                  <a:srgbClr val="1A1A1A"/>
                </a:solidFill>
                <a:latin typeface="Canva Sans"/>
              </a:rPr>
              <a:t>Both clauses, one tracked-changes diff</a:t>
            </a:r>
          </a:p>
        </p:txBody>
      </p:sp>
      <p:pic>
        <p:nvPicPr>
          <p:cNvPr id="5" name="Picture 4" descr="crop_slide_6_redline.png"/>
          <p:cNvPicPr>
            <a:picLocks noChangeAspect="1"/>
          </p:cNvPicPr>
          <p:nvPr/>
        </p:nvPicPr>
        <p:blipFill>
          <a:blip r:embed="rId2"/>
          <a:stretch>
            <a:fillRect/>
          </a:stretch>
        </p:blipFill>
        <p:spPr>
          <a:xfrm>
            <a:off x="5152933" y="2578608"/>
            <a:ext cx="7982134" cy="6199631"/>
          </a:xfrm>
          <a:prstGeom prst="rect">
            <a:avLst/>
          </a:prstGeom>
          <a:ln w="12700">
            <a:solidFill>
              <a:srgbClr val="D8D8D8"/>
            </a:solidFill>
          </a:ln>
        </p:spPr>
      </p:pic>
      <p:sp>
        <p:nvSpPr>
          <p:cNvPr id="6" name="TextBox 5"/>
          <p:cNvSpPr txBox="1"/>
          <p:nvPr/>
        </p:nvSpPr>
        <p:spPr>
          <a:xfrm>
            <a:off x="1188720" y="8887968"/>
            <a:ext cx="15910559" cy="914400"/>
          </a:xfrm>
          <a:prstGeom prst="rect">
            <a:avLst/>
          </a:prstGeom>
          <a:noFill/>
        </p:spPr>
        <p:txBody>
          <a:bodyPr wrap="square">
            <a:spAutoFit/>
          </a:bodyPr>
          <a:lstStyle/>
          <a:p>
            <a:pPr algn="ctr"/>
            <a:r>
              <a:rPr sz="1600">
                <a:solidFill>
                  <a:srgbClr val="6B7280"/>
                </a:solidFill>
                <a:latin typeface="Canva Sans"/>
              </a:rPr>
              <a:t>Red struck out, green inserted. Underneath: what changed, what it costs to leave it, and what still needs the lawyer's judgement.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448056"/>
            <a:ext cx="1673352" cy="576072"/>
          </a:xfrm>
          <a:prstGeom prst="rect">
            <a:avLst/>
          </a:prstGeom>
          <a:noFill/>
        </p:spPr>
        <p:txBody>
          <a:bodyPr wrap="none">
            <a:spAutoFit/>
          </a:bodyPr>
          <a:lstStyle/>
          <a:p>
            <a:r>
              <a:rPr sz="3400">
                <a:solidFill>
                  <a:srgbClr val="004AAD"/>
                </a:solidFill>
                <a:latin typeface="Canva Sans"/>
              </a:rPr>
              <a:t>amenda</a:t>
            </a:r>
          </a:p>
        </p:txBody>
      </p:sp>
      <p:sp>
        <p:nvSpPr>
          <p:cNvPr id="3" name="TextBox 2"/>
          <p:cNvSpPr txBox="1"/>
          <p:nvPr/>
        </p:nvSpPr>
        <p:spPr>
          <a:xfrm>
            <a:off x="841248" y="1298448"/>
            <a:ext cx="10972800" cy="384048"/>
          </a:xfrm>
          <a:prstGeom prst="rect">
            <a:avLst/>
          </a:prstGeom>
          <a:noFill/>
        </p:spPr>
        <p:txBody>
          <a:bodyPr wrap="none">
            <a:spAutoFit/>
          </a:bodyPr>
          <a:lstStyle/>
          <a:p>
            <a:pPr>
              <a:spcAft>
                <a:spcPts val="0"/>
              </a:spcAft>
            </a:pPr>
            <a:r>
              <a:rPr sz="1500" b="1">
                <a:solidFill>
                  <a:srgbClr val="B68235"/>
                </a:solidFill>
                <a:latin typeface="Canva Sans"/>
              </a:rPr>
              <a:t>THE RECORD</a:t>
            </a:r>
          </a:p>
        </p:txBody>
      </p:sp>
      <p:sp>
        <p:nvSpPr>
          <p:cNvPr id="4" name="TextBox 3"/>
          <p:cNvSpPr txBox="1"/>
          <p:nvPr/>
        </p:nvSpPr>
        <p:spPr>
          <a:xfrm>
            <a:off x="841248" y="1719072"/>
            <a:ext cx="16605504" cy="786384"/>
          </a:xfrm>
          <a:prstGeom prst="rect">
            <a:avLst/>
          </a:prstGeom>
          <a:noFill/>
        </p:spPr>
        <p:txBody>
          <a:bodyPr wrap="square">
            <a:spAutoFit/>
          </a:bodyPr>
          <a:lstStyle/>
          <a:p>
            <a:r>
              <a:rPr sz="3100" b="1">
                <a:solidFill>
                  <a:srgbClr val="1A1A1A"/>
                </a:solidFill>
                <a:latin typeface="Canva Sans"/>
              </a:rPr>
              <a:t>Every decision, with its authority</a:t>
            </a:r>
          </a:p>
        </p:txBody>
      </p:sp>
      <p:pic>
        <p:nvPicPr>
          <p:cNvPr id="5" name="Picture 4" descr="slide_8_audit.png"/>
          <p:cNvPicPr>
            <a:picLocks noChangeAspect="1"/>
          </p:cNvPicPr>
          <p:nvPr/>
        </p:nvPicPr>
        <p:blipFill>
          <a:blip r:embed="rId2"/>
          <a:stretch>
            <a:fillRect/>
          </a:stretch>
        </p:blipFill>
        <p:spPr>
          <a:xfrm>
            <a:off x="3721040" y="2578608"/>
            <a:ext cx="10845919" cy="6199632"/>
          </a:xfrm>
          <a:prstGeom prst="rect">
            <a:avLst/>
          </a:prstGeom>
          <a:ln w="12700">
            <a:solidFill>
              <a:srgbClr val="D8D8D8"/>
            </a:solidFill>
          </a:ln>
        </p:spPr>
      </p:pic>
      <p:sp>
        <p:nvSpPr>
          <p:cNvPr id="6" name="TextBox 5"/>
          <p:cNvSpPr txBox="1"/>
          <p:nvPr/>
        </p:nvSpPr>
        <p:spPr>
          <a:xfrm>
            <a:off x="1188720" y="8887968"/>
            <a:ext cx="15910559" cy="914400"/>
          </a:xfrm>
          <a:prstGeom prst="rect">
            <a:avLst/>
          </a:prstGeom>
          <a:noFill/>
        </p:spPr>
        <p:txBody>
          <a:bodyPr wrap="square">
            <a:spAutoFit/>
          </a:bodyPr>
          <a:lstStyle/>
          <a:p>
            <a:pPr algn="ctr"/>
            <a:r>
              <a:rPr sz="1600">
                <a:solidFill>
                  <a:srgbClr val="6B7280"/>
                </a:solidFill>
                <a:latin typeface="Canva Sans"/>
              </a:rPr>
              <a:t>Amenda never edits a document on its own. Each change is approved, rejected or flagged by a named lawyer — and logged with the provision that compelled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DAHUY_Pfcs0</dc:identifier>
  <dcterms:modified xsi:type="dcterms:W3CDTF">2011-08-01T06:04:30Z</dcterms:modified>
  <cp:revision>1</cp:revision>
  <dc:title>Chen Wei is the founder of a lean 30-person tech startup, PivotStack Pte Ltd. His law firm drafted a suite of employment contracts 18 months ago. Because the startup moves fast and Chen wants to manage headcount tightly, the law firm included two clauses</dc:title>
</cp:coreProperties>
</file>